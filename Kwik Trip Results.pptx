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64" r:id="rId6"/>
    <p:sldId id="258" r:id="rId7"/>
    <p:sldId id="259" r:id="rId8"/>
    <p:sldId id="257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50" d="100"/>
          <a:sy n="50" d="100"/>
        </p:scale>
        <p:origin x="5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Dhyanchand" userId="589e3a67dcf4cb7f" providerId="LiveId" clId="{176740E5-5858-4A1F-AD48-D09431D6FD96}"/>
    <pc:docChg chg="modSld">
      <pc:chgData name="Isaac Dhyanchand" userId="589e3a67dcf4cb7f" providerId="LiveId" clId="{176740E5-5858-4A1F-AD48-D09431D6FD96}" dt="2025-10-27T18:44:58.559" v="40" actId="20577"/>
      <pc:docMkLst>
        <pc:docMk/>
      </pc:docMkLst>
      <pc:sldChg chg="modSp mod">
        <pc:chgData name="Isaac Dhyanchand" userId="589e3a67dcf4cb7f" providerId="LiveId" clId="{176740E5-5858-4A1F-AD48-D09431D6FD96}" dt="2025-10-27T18:44:58.559" v="40" actId="20577"/>
        <pc:sldMkLst>
          <pc:docMk/>
          <pc:sldMk cId="2760081480" sldId="256"/>
        </pc:sldMkLst>
        <pc:spChg chg="mod">
          <ac:chgData name="Isaac Dhyanchand" userId="589e3a67dcf4cb7f" providerId="LiveId" clId="{176740E5-5858-4A1F-AD48-D09431D6FD96}" dt="2025-10-27T18:44:58.559" v="40" actId="20577"/>
          <ac:spMkLst>
            <pc:docMk/>
            <pc:sldMk cId="2760081480" sldId="256"/>
            <ac:spMk id="3" creationId="{F138EE1B-B92B-1948-C7F9-3D666901CCD9}"/>
          </ac:spMkLst>
        </pc:spChg>
      </pc:sldChg>
    </pc:docChg>
  </pc:docChgLst>
  <pc:docChgLst>
    <pc:chgData name="Isaac Dhyanchand" userId="589e3a67dcf4cb7f" providerId="LiveId" clId="{E6BF138E-EF87-4EF8-B40A-19EDE6900174}"/>
    <pc:docChg chg="undo custSel modSld">
      <pc:chgData name="Isaac Dhyanchand" userId="589e3a67dcf4cb7f" providerId="LiveId" clId="{E6BF138E-EF87-4EF8-B40A-19EDE6900174}" dt="2025-05-09T17:57:37.284" v="265" actId="14100"/>
      <pc:docMkLst>
        <pc:docMk/>
      </pc:docMkLst>
      <pc:sldChg chg="addSp modSp mod setBg">
        <pc:chgData name="Isaac Dhyanchand" userId="589e3a67dcf4cb7f" providerId="LiveId" clId="{E6BF138E-EF87-4EF8-B40A-19EDE6900174}" dt="2025-05-09T17:56:31.478" v="254" actId="403"/>
        <pc:sldMkLst>
          <pc:docMk/>
          <pc:sldMk cId="2760081480" sldId="256"/>
        </pc:sldMkLst>
      </pc:sldChg>
      <pc:sldChg chg="modSp mod">
        <pc:chgData name="Isaac Dhyanchand" userId="589e3a67dcf4cb7f" providerId="LiveId" clId="{E6BF138E-EF87-4EF8-B40A-19EDE6900174}" dt="2025-05-06T21:09:42.969" v="24" actId="20577"/>
        <pc:sldMkLst>
          <pc:docMk/>
          <pc:sldMk cId="2731105547" sldId="258"/>
        </pc:sldMkLst>
      </pc:sldChg>
      <pc:sldChg chg="addSp delSp modSp mod">
        <pc:chgData name="Isaac Dhyanchand" userId="589e3a67dcf4cb7f" providerId="LiveId" clId="{E6BF138E-EF87-4EF8-B40A-19EDE6900174}" dt="2025-05-09T17:52:39.050" v="136" actId="962"/>
        <pc:sldMkLst>
          <pc:docMk/>
          <pc:sldMk cId="2782615947" sldId="259"/>
        </pc:sldMkLst>
      </pc:sldChg>
      <pc:sldChg chg="addSp delSp modSp mod setBg">
        <pc:chgData name="Isaac Dhyanchand" userId="589e3a67dcf4cb7f" providerId="LiveId" clId="{E6BF138E-EF87-4EF8-B40A-19EDE6900174}" dt="2025-05-09T17:57:37.284" v="265" actId="14100"/>
        <pc:sldMkLst>
          <pc:docMk/>
          <pc:sldMk cId="1578086446" sldId="260"/>
        </pc:sldMkLst>
      </pc:sldChg>
      <pc:sldChg chg="modSp mod">
        <pc:chgData name="Isaac Dhyanchand" userId="589e3a67dcf4cb7f" providerId="LiveId" clId="{E6BF138E-EF87-4EF8-B40A-19EDE6900174}" dt="2025-05-09T17:54:44.709" v="224" actId="20577"/>
        <pc:sldMkLst>
          <pc:docMk/>
          <pc:sldMk cId="64164361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2E83-76E4-EB0C-1257-2D3A0B6D6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0E56C-59A5-7F76-A264-CE65E7588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7E3C6-72CF-ED78-1225-FD40F48D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9995-1F19-272A-ABA3-BBE5376D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15F8F-42EB-1986-EBF4-EBC9BBF4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1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FAA8-829E-4737-4B8D-7CD17199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A1293-0158-67F6-7E4E-D903D293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5430B-16FD-9343-B6E5-2DEC3ADC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7E88-33C9-04C1-A598-838F380A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72AAF-BF4A-9CBD-1B18-66B64CFC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2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9ED2-089F-3141-90FB-289BEB1D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57676-D878-2FB1-AEB6-3D4E589EF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AD318-08A5-5EC0-D136-20E87BFE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1A16D-9E25-8E8E-1C02-FB93D027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ACF90-74AF-0DDE-9869-901CD8F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8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F0C8-B742-9EA6-4B55-4CE41254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0C6F3-A9AE-FFDB-576F-0D82C7B75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9A993-9F8F-21E5-D28D-BED8D6C3F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8C5CB-C3BB-07DD-FEC5-0253D041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837AB-B26E-F9BB-906A-FC8271D5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868A4-AD92-E11E-3826-A898BC9E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1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D78D-439E-E4C2-B3E9-2FF8A55D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62FDF-8890-59D4-51D7-882AD7290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B2CC9-691A-C001-4A5A-1F5449DE2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EAE0B-47B4-FCE7-FEB6-671F10EE7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55257-40AA-CA5D-C212-129F6A6B6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EDCFB-AFDE-AA8D-61FA-893B4E09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C9562-97E3-0A3F-12B3-CDA2B4DD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11AD87-A2BF-B7DF-E1CF-1D682B85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7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9642-C30C-310A-34F0-C7ECBCCB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3D504-561F-035E-02FB-F752F3D4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4C1A5-1563-460F-D81B-B1FDEB4E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9CCE1-3B6D-BE4C-3F97-9E7B3CB0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2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9ED81-9E97-FBF0-6D1E-F8614C7D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0BB56-D21F-678E-C5A1-67C72BC3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1BDDE-FED2-8B6D-F9B2-07E8B80C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1B48-4BC4-BCAA-EBB1-7302F44D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60AB-9202-CBB2-844B-16DFE7C4E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809D7-4214-8360-74B1-18EE838E7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80EA6-9EA4-C012-0B53-0E7C0713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A0DA9-D7E0-532F-68ED-03798295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396B7-696E-8074-01AE-FCA5B461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A823-327C-AC9A-BBC0-B5E28F8E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73D765-E253-A667-62AD-78B345E6E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01138-DDD9-4494-3574-7EA0D6837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E7A-BD52-580A-1F44-9D5D23CF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A3CD0-24C8-BC5D-3F52-995E33D8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A934-9CD6-0FF6-4B48-EE002FBB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1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DF1-5FAA-2034-C688-4C6EB9E0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4D79E-C8CB-A1DB-531F-4CAC7AE5F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F28E-5812-6096-C94F-A3301F54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188BE-6882-E5BA-CE04-52953A45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EF6F8-AA9E-66A6-E767-3CE6271B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8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5E571-9929-4E4E-44A1-A8769CBF3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A0F56-53EA-8988-5130-B42360B7E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F21DF-119B-8BD2-275E-32E6F9F2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CB9CA-A8C1-7A45-0C53-372C6A87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C36-E962-E9C4-6416-05F930BD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53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0E41B-6CAA-BEEE-D71A-C95A1605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A933-4DF1-19AB-7BA0-BD3BE5029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E0E1D-A484-FE49-CEC8-395CD7F37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D2BB0-BCE9-4D90-8CC6-0F204C4E394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8D0C2-56EA-72C5-1D12-2E8D87953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CCF92-56A3-14B3-057F-1592D464E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FCEC3-D28C-454A-864D-5D851738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8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0581B61-EB9C-4FED-8E62-AE74FB0BC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39198901-5716-4C59-8560-9B4B17388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1765" y="0"/>
            <a:ext cx="10950698" cy="6858000"/>
            <a:chOff x="591765" y="0"/>
            <a:chExt cx="10950698" cy="6858000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A1D91B2F-0B68-466B-871D-2350F92FA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4" y="0"/>
              <a:ext cx="10399454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4FF7C94E-23C0-4A3B-8021-55058EF02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52814" y="0"/>
              <a:ext cx="2778659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B0516DB1-0E43-4D56-A51D-F8C67939D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46711" y="0"/>
              <a:ext cx="2664398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B7958EA7-5F20-4E68-8089-D99DC0CC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91765" y="0"/>
              <a:ext cx="2590095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29DFFEF3-1EED-4606-884B-6908880F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86345" y="0"/>
              <a:ext cx="2556118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3B027C-0AB9-C4FF-DE53-4EC6F273E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847" y="3912041"/>
            <a:ext cx="8394306" cy="1396053"/>
          </a:xfrm>
        </p:spPr>
        <p:txBody>
          <a:bodyPr anchor="b">
            <a:normAutofit/>
          </a:bodyPr>
          <a:lstStyle/>
          <a:p>
            <a:r>
              <a:rPr lang="en-US" dirty="0"/>
              <a:t>Kwik Trip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8EE1B-B92B-1948-C7F9-3D666901C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5308096"/>
            <a:ext cx="6953250" cy="862394"/>
          </a:xfrm>
        </p:spPr>
        <p:txBody>
          <a:bodyPr anchor="t">
            <a:normAutofit/>
          </a:bodyPr>
          <a:lstStyle/>
          <a:p>
            <a:r>
              <a:rPr lang="en-US" sz="1100" dirty="0"/>
              <a:t>Isaac Dhyanchand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5AC8E2-9740-E6A3-F817-DA8D1DF0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09117" y="1525262"/>
            <a:ext cx="6773766" cy="140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08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DABB-8AF8-6B8F-C6DC-EB7FE911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8948-D9CA-CEE6-CD2A-70F7E321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92258" cy="4351338"/>
          </a:xfrm>
        </p:spPr>
        <p:txBody>
          <a:bodyPr>
            <a:normAutofit lnSpcReduction="10000"/>
          </a:bodyPr>
          <a:lstStyle/>
          <a:p>
            <a:pPr indent="0">
              <a:buNone/>
            </a:pPr>
            <a:r>
              <a:rPr lang="en-US" sz="2400"/>
              <a:t>This analysis investigates how beer caves, and operating costs affect true profit across Kwik Trip store locations.</a:t>
            </a:r>
          </a:p>
          <a:p>
            <a:pPr indent="0">
              <a:buNone/>
            </a:pPr>
            <a:r>
              <a:rPr lang="en-US" sz="2400"/>
              <a:t>By examining detailed store-level data, we found that:</a:t>
            </a:r>
          </a:p>
          <a:p>
            <a:pPr marL="571500" indent="-342900"/>
            <a:r>
              <a:rPr lang="en-US" sz="2400"/>
              <a:t>Beer caves are correlated with higher profits on average</a:t>
            </a:r>
          </a:p>
          <a:p>
            <a:pPr marL="571500" indent="-342900"/>
            <a:r>
              <a:rPr lang="en-US" sz="2400"/>
              <a:t>Depreciated asset costs were factored into a “true profit” metric to give a more complete financial picture</a:t>
            </a:r>
          </a:p>
          <a:p>
            <a:pPr marL="571500" indent="-342900"/>
            <a:r>
              <a:rPr lang="en-US" sz="2400"/>
              <a:t>Disparity in sales of in-cave and out-of-cave products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808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7B2E-DFAE-2AA0-13D1-389CA104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Profit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4913-4142-4546-368D-068CCB7E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True Profit accounts for key expenses including electricity, repair &amp; maintenance (R&amp;M) costs, and asset depreciation. The formula is: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Electricity Costs</a:t>
            </a:r>
            <a:r>
              <a:rPr lang="en-US" sz="2000" dirty="0"/>
              <a:t>: Based on energy usage (e.g., $3,440.32/year for 33,080 kWh).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R&amp;M Costs</a:t>
            </a:r>
            <a:r>
              <a:rPr lang="en-US" sz="2000" dirty="0"/>
              <a:t>: Total repair and maintenance expenses.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Depreciation</a:t>
            </a:r>
            <a:r>
              <a:rPr lang="en-US" sz="2000" dirty="0"/>
              <a:t>: Cave asset value depreciated over 7 years. New caves, and caves 8+ years old excluded.</a:t>
            </a:r>
          </a:p>
          <a:p>
            <a:r>
              <a:rPr lang="en-US" sz="2000" dirty="0"/>
              <a:t>This formula provides an accurate reflection of the store's financial performance.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97ADD-A01B-25B3-416D-E2B9C21201E6}"/>
              </a:ext>
            </a:extLst>
          </p:cNvPr>
          <p:cNvSpPr txBox="1"/>
          <p:nvPr/>
        </p:nvSpPr>
        <p:spPr>
          <a:xfrm>
            <a:off x="1036055" y="2782669"/>
            <a:ext cx="8154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 Profit</a:t>
            </a:r>
            <a:r>
              <a:rPr lang="en-US" dirty="0"/>
              <a:t> = </a:t>
            </a:r>
            <a:r>
              <a:rPr lang="en-US" b="1" dirty="0"/>
              <a:t>Gross Profit</a:t>
            </a:r>
            <a:r>
              <a:rPr lang="en-US" dirty="0"/>
              <a:t> – </a:t>
            </a:r>
            <a:r>
              <a:rPr lang="en-US" b="1" dirty="0"/>
              <a:t>Electricity Costs</a:t>
            </a:r>
            <a:r>
              <a:rPr lang="en-US" dirty="0"/>
              <a:t> – </a:t>
            </a:r>
            <a:r>
              <a:rPr lang="en-US" b="1" dirty="0"/>
              <a:t>Total R&amp;M Costs – Depreciation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4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61BC-5412-C55B-0378-872A29A7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Profitable Stores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19218C9-D3CC-97AB-B83D-EAECD68DD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5827920" y="2365519"/>
            <a:ext cx="6213514" cy="3174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Store 413	Profit: $114,068	Cave? Yes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761	Profit: $107,988	Cave? Yes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Store 391	Profit: $99,861		Cave? Yes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en-US" altLang="en-US" sz="2000" b="1" dirty="0">
                <a:latin typeface="Arial" panose="020B0604020202020204" pitchFamily="34" charset="0"/>
              </a:rPr>
              <a:t>Store 750	Profit: $97,843		Cave? Yes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en-US" altLang="en-US" sz="2000" b="1" dirty="0">
                <a:latin typeface="Arial" panose="020B0604020202020204" pitchFamily="34" charset="0"/>
              </a:rPr>
              <a:t>Store 827	Profit: $96,941		Cave? Yes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52DE31A-F0AC-3190-790C-BCA28AE70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42" y="1829188"/>
            <a:ext cx="479876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most profitable stores all feature beer caves.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Beer caves contribute significantly to higher profitability, likely through increased alcohol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Costs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Stores with beer caves are charged for the electricity used by the cave, averaging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$3,440.32 annually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Stores without caves are not charged.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Low expenses in repairs and maintenance are also common among these top stores.</a:t>
            </a:r>
          </a:p>
        </p:txBody>
      </p:sp>
    </p:spTree>
    <p:extLst>
      <p:ext uri="{BB962C8B-B14F-4D97-AF65-F5344CB8AC3E}">
        <p14:creationId xmlns:p14="http://schemas.microsoft.com/office/powerpoint/2010/main" val="3217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B1F0-BE36-A743-F233-FA3EF9E7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Profitable Stores (no cave)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E43E-C1C5-C03A-FF7E-0E8A2CB0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410" y="2684940"/>
            <a:ext cx="6862590" cy="2647223"/>
          </a:xfrm>
        </p:spPr>
        <p:txBody>
          <a:bodyPr>
            <a:normAutofit fontScale="92500"/>
          </a:bodyPr>
          <a:lstStyle/>
          <a:p>
            <a:pPr marL="514350" indent="-514350">
              <a:buAutoNum type="arabicParenR"/>
            </a:pPr>
            <a:r>
              <a:rPr lang="en-US" dirty="0"/>
              <a:t>Store 788		Profit: $90,697.94	</a:t>
            </a:r>
          </a:p>
          <a:p>
            <a:pPr marL="514350" indent="-514350">
              <a:buAutoNum type="arabicParenR"/>
            </a:pPr>
            <a:r>
              <a:rPr lang="en-US" dirty="0"/>
              <a:t>Store 444		Profit: $82,371.25</a:t>
            </a:r>
          </a:p>
          <a:p>
            <a:pPr marL="514350" indent="-514350">
              <a:buAutoNum type="arabicParenR"/>
            </a:pPr>
            <a:r>
              <a:rPr lang="en-US" dirty="0"/>
              <a:t>Store 399		Profit: $76,201.22 </a:t>
            </a:r>
          </a:p>
          <a:p>
            <a:pPr marL="514350" indent="-514350">
              <a:buAutoNum type="arabicParenR"/>
            </a:pPr>
            <a:r>
              <a:rPr lang="en-US" dirty="0"/>
              <a:t>Store 763		Profit: $72,414.05 </a:t>
            </a:r>
          </a:p>
          <a:p>
            <a:pPr marL="514350" indent="-514350">
              <a:buAutoNum type="arabicParenR"/>
            </a:pPr>
            <a:r>
              <a:rPr lang="en-US" dirty="0"/>
              <a:t>Store 159		Profit: $72,286.14 	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C8FE7-3F61-F08F-A3E7-EF4E2EC061C9}"/>
              </a:ext>
            </a:extLst>
          </p:cNvPr>
          <p:cNvSpPr txBox="1"/>
          <p:nvPr/>
        </p:nvSpPr>
        <p:spPr>
          <a:xfrm>
            <a:off x="473725" y="2126255"/>
            <a:ext cx="43709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Top-performing stores without beer caves still show solid profits, led by Store 788 at $90K. However, all top 5 most profitable stores have beer caves, suggesting that caves may contribute significantly to higher store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31095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F2BCC-56A0-B225-ECE2-97160E63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Profitable Stores: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1BAB-F74F-7C67-43B3-72F2ACDD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with low true profit tend to have high net asset value, since they are newer stores (start up cost). Note all these stores also have caves.</a:t>
            </a:r>
          </a:p>
          <a:p>
            <a:pPr marL="514350" indent="-514350">
              <a:buAutoNum type="arabicParenR"/>
            </a:pPr>
            <a:r>
              <a:rPr lang="en-US" dirty="0"/>
              <a:t>Store 1725	Profit: -$6,429.02		</a:t>
            </a:r>
          </a:p>
          <a:p>
            <a:pPr marL="514350" indent="-514350">
              <a:buAutoNum type="arabicParenR"/>
            </a:pPr>
            <a:r>
              <a:rPr lang="en-US" dirty="0"/>
              <a:t>Store 1293	Profit: -$6,119.67		</a:t>
            </a:r>
          </a:p>
          <a:p>
            <a:pPr marL="514350" indent="-514350">
              <a:buAutoNum type="arabicParenR"/>
            </a:pPr>
            <a:r>
              <a:rPr lang="en-US" dirty="0"/>
              <a:t>Store 1295	Profit: -$5,696.28</a:t>
            </a:r>
          </a:p>
          <a:p>
            <a:pPr marL="514350" indent="-514350">
              <a:buAutoNum type="arabicParenR"/>
            </a:pPr>
            <a:r>
              <a:rPr lang="en-US" dirty="0"/>
              <a:t>Store 1286	Profit: -$4,961.76</a:t>
            </a:r>
          </a:p>
          <a:p>
            <a:pPr marL="514350" indent="-514350">
              <a:buAutoNum type="arabicParenR"/>
            </a:pPr>
            <a:r>
              <a:rPr lang="en-US" dirty="0"/>
              <a:t>Store 611	Profit: -$3,275.35</a:t>
            </a:r>
          </a:p>
        </p:txBody>
      </p:sp>
    </p:spTree>
    <p:extLst>
      <p:ext uri="{BB962C8B-B14F-4D97-AF65-F5344CB8AC3E}">
        <p14:creationId xmlns:p14="http://schemas.microsoft.com/office/powerpoint/2010/main" val="273110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D83D9-20D2-CCF4-5B83-69C6258D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Stores with vs. without Beer cave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4087B83E-29FF-3040-FCF1-F21348CAAD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69046" cy="296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961D0-BD72-9D9C-0CAF-B973A2F657BD}"/>
              </a:ext>
            </a:extLst>
          </p:cNvPr>
          <p:cNvSpPr txBox="1"/>
          <p:nvPr/>
        </p:nvSpPr>
        <p:spPr>
          <a:xfrm>
            <a:off x="289755" y="1690688"/>
            <a:ext cx="38118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/>
              <a:t>Stores with beer caves generally show higher true profit, but also greater variability.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The median true profit is noticeably higher for stores with caves, suggesting that installing a beer cave tends to be a profitable investment, even though some stores experience more risk.</a:t>
            </a:r>
          </a:p>
          <a:p>
            <a:endParaRPr lang="en-US" sz="2000" dirty="0"/>
          </a:p>
        </p:txBody>
      </p:sp>
      <p:pic>
        <p:nvPicPr>
          <p:cNvPr id="13" name="Content Placeholder 12" descr="A graph of a bar chart&#10;&#10;AI-generated content may be incorrect.">
            <a:extLst>
              <a:ext uri="{FF2B5EF4-FFF2-40B4-BE49-F238E27FC236}">
                <a16:creationId xmlns:a16="http://schemas.microsoft.com/office/drawing/2014/main" id="{193875D0-E06E-6AD4-DDDB-731A503D4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06" y="1965160"/>
            <a:ext cx="6878010" cy="3724795"/>
          </a:xfrm>
        </p:spPr>
      </p:pic>
    </p:spTree>
    <p:extLst>
      <p:ext uri="{BB962C8B-B14F-4D97-AF65-F5344CB8AC3E}">
        <p14:creationId xmlns:p14="http://schemas.microsoft.com/office/powerpoint/2010/main" val="278261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99EF-2333-9C50-FA53-8BCE901D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Selling Products</a:t>
            </a:r>
          </a:p>
        </p:txBody>
      </p:sp>
      <p:pic>
        <p:nvPicPr>
          <p:cNvPr id="7" name="Content Placeholder 6" descr="A graph with blue and red bars&#10;&#10;AI-generated content may be incorrect.">
            <a:extLst>
              <a:ext uri="{FF2B5EF4-FFF2-40B4-BE49-F238E27FC236}">
                <a16:creationId xmlns:a16="http://schemas.microsoft.com/office/drawing/2014/main" id="{3726E51E-88A8-5E99-3039-E32040E2F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8226" y="1888027"/>
            <a:ext cx="8123774" cy="384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F344FCEE-A32F-0EA9-1583-BD0F8ACD6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736075"/>
            <a:ext cx="1845325" cy="184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E73C6C-CA31-19DD-11D4-C9784622AF99}"/>
              </a:ext>
            </a:extLst>
          </p:cNvPr>
          <p:cNvSpPr txBox="1"/>
          <p:nvPr/>
        </p:nvSpPr>
        <p:spPr>
          <a:xfrm>
            <a:off x="242372" y="1736075"/>
            <a:ext cx="39660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Sellers</a:t>
            </a:r>
            <a:r>
              <a:rPr lang="en-US" dirty="0"/>
              <a:t>: Highlighting the most popular products, including beer and related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Breakdown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Beer Cave Sales</a:t>
            </a:r>
            <a:r>
              <a:rPr lang="en-US" dirty="0"/>
              <a:t>: A significant portion of sales come from beer cave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Non-Cave Sales</a:t>
            </a:r>
            <a:r>
              <a:rPr lang="en-US" dirty="0"/>
              <a:t>: Remaining sales stem from regular store areas, excluding the beer cave.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Insights</a:t>
            </a:r>
            <a:r>
              <a:rPr lang="en-US" dirty="0"/>
              <a:t>: The presence of the beer cave drives a larger share of beer-related sales, contributing to higher overall profits.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74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5626-6BB7-5BBB-C6A6-FED50F30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947" y="254956"/>
            <a:ext cx="10515600" cy="1325563"/>
          </a:xfrm>
        </p:spPr>
        <p:txBody>
          <a:bodyPr/>
          <a:lstStyle/>
          <a:p>
            <a:r>
              <a:rPr lang="en-US" dirty="0"/>
              <a:t>Most Profitable Products </a:t>
            </a:r>
          </a:p>
        </p:txBody>
      </p:sp>
      <p:pic>
        <p:nvPicPr>
          <p:cNvPr id="5" name="Content Placeholder 4" descr="A graph with green and red dots&#10;&#10;AI-generated content may be incorrect.">
            <a:extLst>
              <a:ext uri="{FF2B5EF4-FFF2-40B4-BE49-F238E27FC236}">
                <a16:creationId xmlns:a16="http://schemas.microsoft.com/office/drawing/2014/main" id="{7F660E1E-0D45-7CB8-0EC6-9091A0648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668" y="1292205"/>
            <a:ext cx="6826742" cy="51739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B5C12-DB8D-21A5-2368-E4E4A371CBA1}"/>
              </a:ext>
            </a:extLst>
          </p:cNvPr>
          <p:cNvSpPr txBox="1"/>
          <p:nvPr/>
        </p:nvSpPr>
        <p:spPr>
          <a:xfrm>
            <a:off x="385590" y="1806766"/>
            <a:ext cx="41753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Products stored in the beer cave (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green</a:t>
            </a:r>
            <a:r>
              <a:rPr lang="en-US" sz="2400" dirty="0"/>
              <a:t>) generally show higher total sales than those not stored in the cave (</a:t>
            </a:r>
            <a:r>
              <a:rPr lang="en-US" sz="2400" dirty="0">
                <a:solidFill>
                  <a:srgbClr val="C00000"/>
                </a:solidFill>
              </a:rPr>
              <a:t>red</a:t>
            </a:r>
            <a:r>
              <a:rPr lang="en-US" sz="2400" dirty="0"/>
              <a:t>). This suggests that beer cave placement may positively influence consumer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257683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14251</TotalTime>
  <Words>651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Meiryo</vt:lpstr>
      <vt:lpstr>Aptos</vt:lpstr>
      <vt:lpstr>Aptos Display</vt:lpstr>
      <vt:lpstr>Arial</vt:lpstr>
      <vt:lpstr>Office Theme</vt:lpstr>
      <vt:lpstr>Kwik Trip Results</vt:lpstr>
      <vt:lpstr>Data Overview</vt:lpstr>
      <vt:lpstr>True Profit Calculation</vt:lpstr>
      <vt:lpstr>Most Profitable Stores</vt:lpstr>
      <vt:lpstr>Most Profitable Stores (no cave)</vt:lpstr>
      <vt:lpstr>Least Profitable Stores:</vt:lpstr>
      <vt:lpstr>Stores with vs. without Beer cave</vt:lpstr>
      <vt:lpstr>Best Selling Products</vt:lpstr>
      <vt:lpstr>Most Profitable Products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Dhyanchand</dc:creator>
  <cp:lastModifiedBy>Isaac Dhyanchand</cp:lastModifiedBy>
  <cp:revision>1</cp:revision>
  <dcterms:created xsi:type="dcterms:W3CDTF">2025-04-28T22:23:34Z</dcterms:created>
  <dcterms:modified xsi:type="dcterms:W3CDTF">2025-10-27T18:45:02Z</dcterms:modified>
</cp:coreProperties>
</file>